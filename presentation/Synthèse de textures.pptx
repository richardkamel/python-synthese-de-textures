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16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18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94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424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80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66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630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14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288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42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829AA-5845-4933-9D4D-654C7F281710}" type="datetimeFigureOut">
              <a:rPr lang="en-CA" smtClean="0"/>
              <a:t>2025-04-29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60D9C41-5A77-45B6-B08A-2161EA79E19E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09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7CB9-45C8-6AF2-3819-90566A380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A" sz="6000" dirty="0"/>
              <a:t>Synthèse de textures</a:t>
            </a:r>
            <a:endParaRPr lang="en-CA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9942B-02ED-84EC-159F-9862523C84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Par : Richard Kamel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90284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EC92-2503-A85D-0106-296660B2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Présentation du contexte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1611-939C-77CA-BEA2-1D5D818DA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sz="2400" b="1" dirty="0"/>
              <a:t>Objectifs principaux :</a:t>
            </a:r>
          </a:p>
          <a:p>
            <a:r>
              <a:rPr lang="fr-CA" sz="1800" dirty="0"/>
              <a:t>Synthétisation de textures</a:t>
            </a:r>
          </a:p>
          <a:p>
            <a:r>
              <a:rPr lang="fr-CA" sz="1800" dirty="0"/>
              <a:t>Transfert de textures</a:t>
            </a:r>
          </a:p>
          <a:p>
            <a:pPr marL="0" indent="0">
              <a:buNone/>
            </a:pPr>
            <a:r>
              <a:rPr lang="fr-CA" sz="2800" dirty="0"/>
              <a:t>Méthodes utilisées :</a:t>
            </a:r>
          </a:p>
          <a:p>
            <a:r>
              <a:rPr lang="fr-CA" sz="1800" dirty="0"/>
              <a:t>Textures aléatoires</a:t>
            </a:r>
          </a:p>
          <a:p>
            <a:r>
              <a:rPr lang="fr-CA" sz="1800" dirty="0"/>
              <a:t>Chevauchement simple</a:t>
            </a:r>
          </a:p>
          <a:p>
            <a:r>
              <a:rPr lang="fr-CA" sz="1800" dirty="0"/>
              <a:t>Chevauchement avec coupe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175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3818-421C-9745-FDE3-6F61D3C7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Quilt_random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41A37-9E31-6251-9AA7-A38F2CF68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Sélection aléatoire de blocs</a:t>
            </a:r>
          </a:p>
          <a:p>
            <a:r>
              <a:rPr lang="fr-CA" dirty="0"/>
              <a:t>Placement des blocs un par un</a:t>
            </a:r>
          </a:p>
          <a:p>
            <a:r>
              <a:rPr lang="fr-CA" dirty="0"/>
              <a:t>Méthode rapide</a:t>
            </a:r>
          </a:p>
          <a:p>
            <a:r>
              <a:rPr lang="en-CA" dirty="0" err="1"/>
              <a:t>Moins</a:t>
            </a:r>
            <a:r>
              <a:rPr lang="en-CA" dirty="0"/>
              <a:t> </a:t>
            </a:r>
            <a:r>
              <a:rPr lang="en-CA" dirty="0" err="1"/>
              <a:t>efficace</a:t>
            </a:r>
            <a:endParaRPr lang="en-CA" dirty="0"/>
          </a:p>
          <a:p>
            <a:r>
              <a:rPr lang="en-CA" dirty="0" err="1"/>
              <a:t>Aucune</a:t>
            </a:r>
            <a:r>
              <a:rPr lang="en-CA" dirty="0"/>
              <a:t> transition entre blocs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767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A107-0BFD-5231-DC5E-7DB791E3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  <a:endParaRPr lang="en-CA" dirty="0"/>
          </a:p>
        </p:txBody>
      </p:sp>
      <p:pic>
        <p:nvPicPr>
          <p:cNvPr id="11" name="Picture 10" descr="A close-up of a black surface&#10;&#10;AI-generated content may be incorrect.">
            <a:extLst>
              <a:ext uri="{FF2B5EF4-FFF2-40B4-BE49-F238E27FC236}">
                <a16:creationId xmlns:a16="http://schemas.microsoft.com/office/drawing/2014/main" id="{781D902B-1C8B-E047-C009-7445ED5E8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136" y="1959633"/>
            <a:ext cx="2446651" cy="2446651"/>
          </a:xfrm>
          <a:prstGeom prst="rect">
            <a:avLst/>
          </a:prstGeom>
        </p:spPr>
      </p:pic>
      <p:pic>
        <p:nvPicPr>
          <p:cNvPr id="13" name="Picture 12" descr="A close-up of a white and brown tile&#10;&#10;AI-generated content may be incorrect.">
            <a:extLst>
              <a:ext uri="{FF2B5EF4-FFF2-40B4-BE49-F238E27FC236}">
                <a16:creationId xmlns:a16="http://schemas.microsoft.com/office/drawing/2014/main" id="{8A74D45D-D6E9-208C-A1F3-B469E59E6B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674" y="1959632"/>
            <a:ext cx="2446652" cy="2446652"/>
          </a:xfrm>
          <a:prstGeom prst="rect">
            <a:avLst/>
          </a:prstGeom>
        </p:spPr>
      </p:pic>
      <p:pic>
        <p:nvPicPr>
          <p:cNvPr id="15" name="Picture 14" descr="A grey and white tile&#10;&#10;AI-generated content may be incorrect.">
            <a:extLst>
              <a:ext uri="{FF2B5EF4-FFF2-40B4-BE49-F238E27FC236}">
                <a16:creationId xmlns:a16="http://schemas.microsoft.com/office/drawing/2014/main" id="{D2699E35-F785-3D57-7329-DD0162D8D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8" y="1959633"/>
            <a:ext cx="2446653" cy="244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41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F1B68-48CF-8F1B-9BA3-15AFBC0D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4332E-25FD-4E30-B5FF-8638C2974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Content Placeholder 4" descr="A close-up of a white surface&#10;&#10;AI-generated content may be incorrect.">
            <a:extLst>
              <a:ext uri="{FF2B5EF4-FFF2-40B4-BE49-F238E27FC236}">
                <a16:creationId xmlns:a16="http://schemas.microsoft.com/office/drawing/2014/main" id="{15BCBA1B-6782-1AF1-A154-E2BE2A9E8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33" y="2015731"/>
            <a:ext cx="2746333" cy="2746333"/>
          </a:xfrm>
          <a:prstGeom prst="rect">
            <a:avLst/>
          </a:prstGeom>
        </p:spPr>
      </p:pic>
      <p:pic>
        <p:nvPicPr>
          <p:cNvPr id="7" name="Picture 6" descr="A close-up of a brick wall&#10;&#10;AI-generated content may be incorrect.">
            <a:extLst>
              <a:ext uri="{FF2B5EF4-FFF2-40B4-BE49-F238E27FC236}">
                <a16:creationId xmlns:a16="http://schemas.microsoft.com/office/drawing/2014/main" id="{491ABC39-B4C8-621A-B5EE-EF2258FDA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161" y="2015731"/>
            <a:ext cx="2746333" cy="2746333"/>
          </a:xfrm>
          <a:prstGeom prst="rect">
            <a:avLst/>
          </a:prstGeom>
        </p:spPr>
      </p:pic>
      <p:pic>
        <p:nvPicPr>
          <p:cNvPr id="9" name="Picture 8" descr="A text on a paper&#10;&#10;AI-generated content may be incorrect.">
            <a:extLst>
              <a:ext uri="{FF2B5EF4-FFF2-40B4-BE49-F238E27FC236}">
                <a16:creationId xmlns:a16="http://schemas.microsoft.com/office/drawing/2014/main" id="{37AE9FA1-61DD-EB8B-4751-086E4A5B24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844" y="2015732"/>
            <a:ext cx="2746333" cy="27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9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5232-9584-A248-AAC2-04F60CA3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Quilt_simple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03F3F-4AFA-DB28-C1A4-ADECD884A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Placement de bloc aléatoire coin supérieur gauche</a:t>
            </a:r>
          </a:p>
          <a:p>
            <a:r>
              <a:rPr lang="fr-CA" dirty="0"/>
              <a:t>Applique chevauchement horizontal et/ou vertical avec blocs déjà placés</a:t>
            </a:r>
          </a:p>
          <a:p>
            <a:r>
              <a:rPr lang="fr-CA" dirty="0"/>
              <a:t>Comparaison de zone de chevauchement entre bloc à placé et image générée</a:t>
            </a:r>
          </a:p>
          <a:p>
            <a:r>
              <a:rPr lang="fr-CA" dirty="0"/>
              <a:t>Calcul de la SDC entre chaque position possible de l’image source</a:t>
            </a:r>
          </a:p>
          <a:p>
            <a:r>
              <a:rPr lang="fr-CA" dirty="0"/>
              <a:t>Sélection du meilleur bloc candidat (SDC proche du minimum selon </a:t>
            </a:r>
            <a:r>
              <a:rPr lang="fr-CA" u="sng" dirty="0" err="1"/>
              <a:t>tol</a:t>
            </a:r>
            <a:r>
              <a:rPr lang="fr-CA" dirty="0"/>
              <a:t>)</a:t>
            </a:r>
          </a:p>
          <a:p>
            <a:r>
              <a:rPr lang="fr-CA" dirty="0"/>
              <a:t>Répète cette opération ligne par ligne pour couvrir l’image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0989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5349-CCF1-A633-0112-10E3A6A8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  <a:endParaRPr lang="en-CA" dirty="0"/>
          </a:p>
        </p:txBody>
      </p:sp>
      <p:pic>
        <p:nvPicPr>
          <p:cNvPr id="11" name="Picture 10" descr="A close-up of a white surface&#10;&#10;AI-generated content may be incorrect.">
            <a:extLst>
              <a:ext uri="{FF2B5EF4-FFF2-40B4-BE49-F238E27FC236}">
                <a16:creationId xmlns:a16="http://schemas.microsoft.com/office/drawing/2014/main" id="{B4FC384B-0C2A-0F0F-2FAD-48A9C83B2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896" y="2036545"/>
            <a:ext cx="2438400" cy="2438400"/>
          </a:xfrm>
          <a:prstGeom prst="rect">
            <a:avLst/>
          </a:prstGeom>
        </p:spPr>
      </p:pic>
      <p:pic>
        <p:nvPicPr>
          <p:cNvPr id="13" name="Picture 12" descr="A white background with brush strokes&#10;&#10;AI-generated content may be incorrect.">
            <a:extLst>
              <a:ext uri="{FF2B5EF4-FFF2-40B4-BE49-F238E27FC236}">
                <a16:creationId xmlns:a16="http://schemas.microsoft.com/office/drawing/2014/main" id="{D56B05DA-D74B-836D-A6A0-087F4FC1C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414" y="2036545"/>
            <a:ext cx="2438400" cy="2438400"/>
          </a:xfrm>
          <a:prstGeom prst="rect">
            <a:avLst/>
          </a:prstGeom>
        </p:spPr>
      </p:pic>
      <p:pic>
        <p:nvPicPr>
          <p:cNvPr id="15" name="Picture 14" descr="A close-up of a white surface&#10;&#10;AI-generated content may be incorrect.">
            <a:extLst>
              <a:ext uri="{FF2B5EF4-FFF2-40B4-BE49-F238E27FC236}">
                <a16:creationId xmlns:a16="http://schemas.microsoft.com/office/drawing/2014/main" id="{8A3DD626-71A0-29C8-3747-D8D9236B9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2036545"/>
            <a:ext cx="2438400" cy="243840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7F37C96-8914-8782-1AF5-33FA31381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689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47C6-2BAC-06C4-2313-F858BFBD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871DD-D855-2E10-BD1E-8E47EED9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Content Placeholder 4" descr="A close-up of a brick wall&#10;&#10;AI-generated content may be incorrect.">
            <a:extLst>
              <a:ext uri="{FF2B5EF4-FFF2-40B4-BE49-F238E27FC236}">
                <a16:creationId xmlns:a16="http://schemas.microsoft.com/office/drawing/2014/main" id="{1DE1F834-FEC1-282D-E269-08297A9B6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016" y="2015732"/>
            <a:ext cx="2438400" cy="2438400"/>
          </a:xfrm>
          <a:prstGeom prst="rect">
            <a:avLst/>
          </a:prstGeom>
        </p:spPr>
      </p:pic>
      <p:pic>
        <p:nvPicPr>
          <p:cNvPr id="7" name="Picture 6" descr="A text on a page&#10;&#10;AI-generated content may be incorrect.">
            <a:extLst>
              <a:ext uri="{FF2B5EF4-FFF2-40B4-BE49-F238E27FC236}">
                <a16:creationId xmlns:a16="http://schemas.microsoft.com/office/drawing/2014/main" id="{1D447FD4-C1EE-C20A-1F9E-DFA9F621F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720" y="2015732"/>
            <a:ext cx="2438400" cy="2438400"/>
          </a:xfrm>
          <a:prstGeom prst="rect">
            <a:avLst/>
          </a:prstGeom>
        </p:spPr>
      </p:pic>
      <p:pic>
        <p:nvPicPr>
          <p:cNvPr id="9" name="Picture 8" descr="A close up of a black surface&#10;&#10;AI-generated content may be incorrect.">
            <a:extLst>
              <a:ext uri="{FF2B5EF4-FFF2-40B4-BE49-F238E27FC236}">
                <a16:creationId xmlns:a16="http://schemas.microsoft.com/office/drawing/2014/main" id="{A2741D1A-C83A-D7DA-4AC4-9BA7EED55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081" y="2015732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8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8499-C673-01E2-D717-213D7719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Quilt_cut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61F53-ED9D-92B8-5EAD-0EF0C3FDF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Sélection de bloc candidat comme dans </a:t>
            </a:r>
            <a:r>
              <a:rPr lang="fr-CA" dirty="0" err="1"/>
              <a:t>quilt_simple</a:t>
            </a:r>
            <a:endParaRPr lang="fr-CA" dirty="0"/>
          </a:p>
          <a:p>
            <a:r>
              <a:rPr lang="fr-CA" dirty="0"/>
              <a:t>Calcul coût de bordure entre bloc candidat et image générée</a:t>
            </a:r>
          </a:p>
          <a:p>
            <a:r>
              <a:rPr lang="fr-CA" dirty="0"/>
              <a:t>Utilisation de la fonction </a:t>
            </a:r>
            <a:r>
              <a:rPr lang="fr-CA" dirty="0" err="1"/>
              <a:t>cut</a:t>
            </a:r>
            <a:r>
              <a:rPr lang="fr-CA" dirty="0"/>
              <a:t>() pour chemin de fusion optimal</a:t>
            </a:r>
          </a:p>
          <a:p>
            <a:r>
              <a:rPr lang="fr-CA" dirty="0"/>
              <a:t>Utilisation de masque binaire pour garder meilleurs pixels du nouveau bloc</a:t>
            </a:r>
          </a:p>
          <a:p>
            <a:r>
              <a:rPr lang="fr-CA" dirty="0"/>
              <a:t>Si bloc chevauche en haut et à gauche, calcul deux joints séparés et combine masques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28527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A33F9-1261-63C3-B820-3C5CF87C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  <a:endParaRPr lang="en-CA" dirty="0"/>
          </a:p>
        </p:txBody>
      </p:sp>
      <p:pic>
        <p:nvPicPr>
          <p:cNvPr id="11" name="Picture 10" descr="A close-up of a black surface&#10;&#10;AI-generated content may be incorrect.">
            <a:extLst>
              <a:ext uri="{FF2B5EF4-FFF2-40B4-BE49-F238E27FC236}">
                <a16:creationId xmlns:a16="http://schemas.microsoft.com/office/drawing/2014/main" id="{5630987A-CC92-F521-3F39-1B6ACC59A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025" y="2036545"/>
            <a:ext cx="2438400" cy="2438400"/>
          </a:xfrm>
          <a:prstGeom prst="rect">
            <a:avLst/>
          </a:prstGeom>
        </p:spPr>
      </p:pic>
      <p:pic>
        <p:nvPicPr>
          <p:cNvPr id="13" name="Picture 12" descr="A close-up of a white surface&#10;&#10;AI-generated content may be incorrect.">
            <a:extLst>
              <a:ext uri="{FF2B5EF4-FFF2-40B4-BE49-F238E27FC236}">
                <a16:creationId xmlns:a16="http://schemas.microsoft.com/office/drawing/2014/main" id="{49DA9927-D4E6-13B2-E4BC-4CE296B4D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036545"/>
            <a:ext cx="2438400" cy="2438400"/>
          </a:xfrm>
          <a:prstGeom prst="rect">
            <a:avLst/>
          </a:prstGeom>
        </p:spPr>
      </p:pic>
      <p:pic>
        <p:nvPicPr>
          <p:cNvPr id="15" name="Picture 14" descr="A white and grey square pattern&#10;&#10;AI-generated content may be incorrect.">
            <a:extLst>
              <a:ext uri="{FF2B5EF4-FFF2-40B4-BE49-F238E27FC236}">
                <a16:creationId xmlns:a16="http://schemas.microsoft.com/office/drawing/2014/main" id="{053BDAC7-8045-4A4D-9005-FBA11B1B3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2036545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05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EB7A-F69D-E58E-10BE-2F407DD8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99CFC-5F9E-3735-2FEA-79F4CD657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Content Placeholder 4" descr="A close-up of a white and gray background&#10;&#10;AI-generated content may be incorrect.">
            <a:extLst>
              <a:ext uri="{FF2B5EF4-FFF2-40B4-BE49-F238E27FC236}">
                <a16:creationId xmlns:a16="http://schemas.microsoft.com/office/drawing/2014/main" id="{5519996E-E5DC-695E-1F00-47D8224C1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016" y="2015732"/>
            <a:ext cx="2438400" cy="2438400"/>
          </a:xfrm>
          <a:prstGeom prst="rect">
            <a:avLst/>
          </a:prstGeom>
        </p:spPr>
      </p:pic>
      <p:pic>
        <p:nvPicPr>
          <p:cNvPr id="7" name="Picture 6" descr="A close-up of a brick wall&#10;&#10;AI-generated content may be incorrect.">
            <a:extLst>
              <a:ext uri="{FF2B5EF4-FFF2-40B4-BE49-F238E27FC236}">
                <a16:creationId xmlns:a16="http://schemas.microsoft.com/office/drawing/2014/main" id="{FD63B1BB-EE21-F8F9-FB7A-19FA97921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962" y="2015732"/>
            <a:ext cx="2438400" cy="2438400"/>
          </a:xfrm>
          <a:prstGeom prst="rect">
            <a:avLst/>
          </a:prstGeom>
        </p:spPr>
      </p:pic>
      <p:pic>
        <p:nvPicPr>
          <p:cNvPr id="9" name="Picture 8" descr="A close-up of a text&#10;&#10;AI-generated content may be incorrect.">
            <a:extLst>
              <a:ext uri="{FF2B5EF4-FFF2-40B4-BE49-F238E27FC236}">
                <a16:creationId xmlns:a16="http://schemas.microsoft.com/office/drawing/2014/main" id="{F8706C97-515D-F045-B242-D3DE4968B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454" y="2015732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35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0C6A-3508-154D-F382-512B1F5E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Texture_transfer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9A4F-A9AD-4D6F-A75A-497A84571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Fusion du contenu visuel d’une image cible avec une texture</a:t>
            </a:r>
          </a:p>
          <a:p>
            <a:r>
              <a:rPr lang="fr-CA" dirty="0"/>
              <a:t>Chaque bloc est sélectionné par 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CA" dirty="0"/>
              <a:t>Similarité avec blocs déjà placés (coût de chevauchement)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CA" dirty="0"/>
              <a:t>Proximité visuelle avec image cible (différence de luminance)</a:t>
            </a:r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50539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CEB0-8511-ED43-3D25-9AE96EAE9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Texture_transfer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B6292-AB90-03E9-4AE2-8F88F8560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Paramètre alpha permet de contrôler équilibre entre texture et contenu de l’image</a:t>
            </a:r>
          </a:p>
          <a:p>
            <a:r>
              <a:rPr lang="fr-CA" dirty="0"/>
              <a:t>Application de </a:t>
            </a:r>
            <a:r>
              <a:rPr lang="fr-CA" dirty="0" err="1"/>
              <a:t>cut</a:t>
            </a:r>
            <a:r>
              <a:rPr lang="fr-CA" dirty="0"/>
              <a:t> pour fusion entre blocs lisse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99538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DBD9-A54E-1196-DD22-929FCB664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  <a:endParaRPr lang="en-CA" dirty="0"/>
          </a:p>
        </p:txBody>
      </p:sp>
      <p:pic>
        <p:nvPicPr>
          <p:cNvPr id="15" name="Content Placeholder 14" descr="A close-up of a cracked surface&#10;&#10;AI-generated content may be incorrect.">
            <a:extLst>
              <a:ext uri="{FF2B5EF4-FFF2-40B4-BE49-F238E27FC236}">
                <a16:creationId xmlns:a16="http://schemas.microsoft.com/office/drawing/2014/main" id="{E6A063C1-F3D7-33EB-901F-41EADBABF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1" y="1939111"/>
            <a:ext cx="2581275" cy="3381375"/>
          </a:xfrm>
        </p:spPr>
      </p:pic>
      <p:pic>
        <p:nvPicPr>
          <p:cNvPr id="17" name="Picture 16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5596EDE3-4880-1133-51C2-C400BC6FD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555" y="2604302"/>
            <a:ext cx="1376680" cy="1803400"/>
          </a:xfrm>
          <a:prstGeom prst="rect">
            <a:avLst/>
          </a:prstGeom>
        </p:spPr>
      </p:pic>
      <p:pic>
        <p:nvPicPr>
          <p:cNvPr id="19" name="Picture 18" descr="A black surface with cracks&#10;&#10;AI-generated content may be incorrect.">
            <a:extLst>
              <a:ext uri="{FF2B5EF4-FFF2-40B4-BE49-F238E27FC236}">
                <a16:creationId xmlns:a16="http://schemas.microsoft.com/office/drawing/2014/main" id="{70AC33EE-D29C-D225-29EB-E0CC21301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2634464"/>
            <a:ext cx="2619375" cy="1743075"/>
          </a:xfrm>
          <a:prstGeom prst="rect">
            <a:avLst/>
          </a:prstGeom>
        </p:spPr>
      </p:pic>
      <p:pic>
        <p:nvPicPr>
          <p:cNvPr id="20" name="Content Placeholder 14" descr="A close-up of a cracked surface&#10;&#10;AI-generated content may be incorrect.">
            <a:extLst>
              <a:ext uri="{FF2B5EF4-FFF2-40B4-BE49-F238E27FC236}">
                <a16:creationId xmlns:a16="http://schemas.microsoft.com/office/drawing/2014/main" id="{045EAFDF-5100-D578-D0D7-7970CA2CA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016" y="2604302"/>
            <a:ext cx="1409611" cy="184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97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E931-1F41-0289-B78A-1E326C97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  <a:endParaRPr lang="en-CA" dirty="0"/>
          </a:p>
        </p:txBody>
      </p:sp>
      <p:pic>
        <p:nvPicPr>
          <p:cNvPr id="5" name="Content Placeholder 4" descr="A brick wall with a skull&#10;&#10;AI-generated content may be incorrect.">
            <a:extLst>
              <a:ext uri="{FF2B5EF4-FFF2-40B4-BE49-F238E27FC236}">
                <a16:creationId xmlns:a16="http://schemas.microsoft.com/office/drawing/2014/main" id="{ACDD4D77-F705-FEE8-4902-34AFF73E2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683" y="2292674"/>
            <a:ext cx="2711573" cy="2711573"/>
          </a:xfrm>
        </p:spPr>
      </p:pic>
      <p:pic>
        <p:nvPicPr>
          <p:cNvPr id="7" name="Picture 6" descr="A person with a beard and mustache wearing a black hoodie&#10;&#10;AI-generated content may be incorrect.">
            <a:extLst>
              <a:ext uri="{FF2B5EF4-FFF2-40B4-BE49-F238E27FC236}">
                <a16:creationId xmlns:a16="http://schemas.microsoft.com/office/drawing/2014/main" id="{CEA156F9-8793-CA66-D3E1-69C0E8FBC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2511304"/>
            <a:ext cx="2492943" cy="2492943"/>
          </a:xfrm>
          <a:prstGeom prst="rect">
            <a:avLst/>
          </a:prstGeom>
        </p:spPr>
      </p:pic>
      <p:pic>
        <p:nvPicPr>
          <p:cNvPr id="9" name="Picture 8" descr="A close up of a brick wall&#10;&#10;AI-generated content may be incorrect.">
            <a:extLst>
              <a:ext uri="{FF2B5EF4-FFF2-40B4-BE49-F238E27FC236}">
                <a16:creationId xmlns:a16="http://schemas.microsoft.com/office/drawing/2014/main" id="{93A916BA-048F-74B7-FF17-8F2D98FD8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564" y="2577736"/>
            <a:ext cx="2360077" cy="2360077"/>
          </a:xfrm>
          <a:prstGeom prst="rect">
            <a:avLst/>
          </a:prstGeom>
        </p:spPr>
      </p:pic>
      <p:pic>
        <p:nvPicPr>
          <p:cNvPr id="10" name="Content Placeholder 4" descr="A brick wall with a skull&#10;&#10;AI-generated content may be incorrect.">
            <a:extLst>
              <a:ext uri="{FF2B5EF4-FFF2-40B4-BE49-F238E27FC236}">
                <a16:creationId xmlns:a16="http://schemas.microsoft.com/office/drawing/2014/main" id="{B207B74F-7D54-077B-E2E8-831F9A366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440" y="2862479"/>
            <a:ext cx="1571961" cy="157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7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BC50-792F-2B59-CD8A-2DBC9F24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  <a:endParaRPr lang="en-CA" dirty="0"/>
          </a:p>
        </p:txBody>
      </p:sp>
      <p:pic>
        <p:nvPicPr>
          <p:cNvPr id="5" name="Content Placeholder 4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B8445B87-6B88-6D55-1412-BFC86F803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427" y="2042542"/>
            <a:ext cx="1678539" cy="2772916"/>
          </a:xfrm>
        </p:spPr>
      </p:pic>
      <p:pic>
        <p:nvPicPr>
          <p:cNvPr id="7" name="Picture 6" descr="A close-up of a white surface&#10;&#10;AI-generated content may be incorrect.">
            <a:extLst>
              <a:ext uri="{FF2B5EF4-FFF2-40B4-BE49-F238E27FC236}">
                <a16:creationId xmlns:a16="http://schemas.microsoft.com/office/drawing/2014/main" id="{D91D608F-3F3F-492E-1E85-FB0D75516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390" y="2042542"/>
            <a:ext cx="1918646" cy="3169570"/>
          </a:xfrm>
          <a:prstGeom prst="rect">
            <a:avLst/>
          </a:prstGeom>
        </p:spPr>
      </p:pic>
      <p:pic>
        <p:nvPicPr>
          <p:cNvPr id="11" name="Picture 10" descr="A close up of a white substance&#10;&#10;AI-generated content may be incorrect.">
            <a:extLst>
              <a:ext uri="{FF2B5EF4-FFF2-40B4-BE49-F238E27FC236}">
                <a16:creationId xmlns:a16="http://schemas.microsoft.com/office/drawing/2014/main" id="{40226C62-3676-679B-FE98-FD3897B72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040" y="2207898"/>
            <a:ext cx="2731413" cy="2442204"/>
          </a:xfrm>
          <a:prstGeom prst="rect">
            <a:avLst/>
          </a:prstGeom>
        </p:spPr>
      </p:pic>
      <p:pic>
        <p:nvPicPr>
          <p:cNvPr id="12" name="Picture 11" descr="A close-up of a white surface&#10;&#10;AI-generated content may be incorrect.">
            <a:extLst>
              <a:ext uri="{FF2B5EF4-FFF2-40B4-BE49-F238E27FC236}">
                <a16:creationId xmlns:a16="http://schemas.microsoft.com/office/drawing/2014/main" id="{FE3F5851-9DDA-385C-9248-5AE9443AB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640" y="2690482"/>
            <a:ext cx="894098" cy="147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214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B554-A3BD-D693-6121-ED240DB3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Limitations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58950-3947-0C63-8EB2-EC4E28353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Complexité du code et temps d’exécution</a:t>
            </a:r>
          </a:p>
          <a:p>
            <a:r>
              <a:rPr lang="en-CA" dirty="0" err="1"/>
              <a:t>Dépendance</a:t>
            </a:r>
            <a:r>
              <a:rPr lang="en-CA" dirty="0"/>
              <a:t> des </a:t>
            </a:r>
            <a:r>
              <a:rPr lang="en-CA" dirty="0" err="1"/>
              <a:t>paires</a:t>
            </a:r>
            <a:r>
              <a:rPr lang="en-CA" dirty="0"/>
              <a:t> </a:t>
            </a:r>
            <a:r>
              <a:rPr lang="en-CA" dirty="0" err="1"/>
              <a:t>d’images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7800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9E6A-1371-0AA2-7C5D-781320C0A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Amélioration	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C3FEB-1CB4-355D-9D20-403229E03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Choisir des meilleures valeurs</a:t>
            </a:r>
          </a:p>
          <a:p>
            <a:r>
              <a:rPr lang="fr-CA" dirty="0"/>
              <a:t>Alléger le code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71909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58C3-8444-FBB5-A6ED-5744BEAF9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Conclusion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404CD-72CA-C433-1E30-82AB89234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578673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123</TotalTime>
  <Words>267</Words>
  <Application>Microsoft Office PowerPoint</Application>
  <PresentationFormat>Widescreen</PresentationFormat>
  <Paragraphs>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Gill Sans MT</vt:lpstr>
      <vt:lpstr>Wingdings</vt:lpstr>
      <vt:lpstr>Gallery</vt:lpstr>
      <vt:lpstr>Synthèse de textures</vt:lpstr>
      <vt:lpstr>Présentation du contexte</vt:lpstr>
      <vt:lpstr>Quilt_random</vt:lpstr>
      <vt:lpstr>Résultats</vt:lpstr>
      <vt:lpstr>Résultats</vt:lpstr>
      <vt:lpstr>Quilt_simple</vt:lpstr>
      <vt:lpstr>Résultats</vt:lpstr>
      <vt:lpstr>PowerPoint Presentation</vt:lpstr>
      <vt:lpstr>Quilt_cut</vt:lpstr>
      <vt:lpstr>Résultats</vt:lpstr>
      <vt:lpstr>Résultats</vt:lpstr>
      <vt:lpstr>Texture_transfer</vt:lpstr>
      <vt:lpstr>Texture_transfer</vt:lpstr>
      <vt:lpstr>Résultats</vt:lpstr>
      <vt:lpstr>Résultats</vt:lpstr>
      <vt:lpstr>Résultats</vt:lpstr>
      <vt:lpstr>Limitations</vt:lpstr>
      <vt:lpstr>Amélioration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Kamel</dc:creator>
  <cp:lastModifiedBy>Richard Kamel</cp:lastModifiedBy>
  <cp:revision>7</cp:revision>
  <dcterms:created xsi:type="dcterms:W3CDTF">2025-04-30T00:38:01Z</dcterms:created>
  <dcterms:modified xsi:type="dcterms:W3CDTF">2025-04-30T02:41:41Z</dcterms:modified>
</cp:coreProperties>
</file>